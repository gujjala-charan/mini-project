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51196" y="1645920"/>
            <a:ext cx="320040" cy="32004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935828" y="1645920"/>
            <a:ext cx="320040" cy="32004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20460" y="1645920"/>
            <a:ext cx="320040" cy="3200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2194560"/>
            <a:ext cx="8534095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5600" b="1">
                <a:solidFill>
                  <a:srgbClr val="F8FAFC"/>
                </a:solidFill>
                <a:latin typeface="Trebuchet MS"/>
              </a:defRPr>
            </a:pPr>
            <a:r>
              <a:t>TRAFFIX</a:t>
            </a:r>
          </a:p>
          <a:p>
            <a:pPr algn="ctr">
              <a:defRPr sz="2000" b="1">
                <a:solidFill>
                  <a:srgbClr val="2DD4BF"/>
                </a:solidFill>
                <a:latin typeface="Trebuchet MS"/>
              </a:defRPr>
            </a:pPr>
            <a:r>
              <a:t>Smart Traffic Navigation Made Simple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3931920"/>
            <a:ext cx="76196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>
                <a:solidFill>
                  <a:srgbClr val="94A3B8"/>
                </a:solidFill>
                <a:latin typeface="Segoe UI"/>
              </a:defRPr>
            </a:pPr>
            <a:r>
              <a:t>An intelligent map system that acts like a GPS, automatically finding the fastest routes by steering drivers away from sudden traffic jams in real 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88439" y="5120640"/>
            <a:ext cx="1645920" cy="347472"/>
          </a:xfrm>
          <a:prstGeom prst="roundRect">
            <a:avLst/>
          </a:prstGeom>
          <a:solidFill>
            <a:srgbClr val="161D2E"/>
          </a:solidFill>
          <a:ln w="12700">
            <a:solidFill>
              <a:srgbClr val="283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F8FAFC"/>
                </a:solidFill>
                <a:latin typeface="Segoe UI"/>
              </a:defRPr>
            </a:pPr>
            <a:r>
              <a:t>Fast Routing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80663" y="5120640"/>
            <a:ext cx="1645920" cy="347472"/>
          </a:xfrm>
          <a:prstGeom prst="roundRect">
            <a:avLst/>
          </a:prstGeom>
          <a:solidFill>
            <a:srgbClr val="161D2E"/>
          </a:solidFill>
          <a:ln w="12700">
            <a:solidFill>
              <a:srgbClr val="283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F8FAFC"/>
                </a:solidFill>
                <a:latin typeface="Segoe UI"/>
              </a:defRPr>
            </a:pPr>
            <a:r>
              <a:t>Dynamic Maps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72887" y="5120640"/>
            <a:ext cx="1645920" cy="347472"/>
          </a:xfrm>
          <a:prstGeom prst="roundRect">
            <a:avLst/>
          </a:prstGeom>
          <a:solidFill>
            <a:srgbClr val="161D2E"/>
          </a:solidFill>
          <a:ln w="12700">
            <a:solidFill>
              <a:srgbClr val="283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F8FAFC"/>
                </a:solidFill>
                <a:latin typeface="Segoe UI"/>
              </a:defRPr>
            </a:pPr>
            <a:r>
              <a:t>Real-Time Updates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65111" y="5120640"/>
            <a:ext cx="1645920" cy="347472"/>
          </a:xfrm>
          <a:prstGeom prst="roundRect">
            <a:avLst/>
          </a:prstGeom>
          <a:solidFill>
            <a:srgbClr val="161D2E"/>
          </a:solidFill>
          <a:ln w="12700">
            <a:solidFill>
              <a:srgbClr val="283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F8FAFC"/>
                </a:solidFill>
                <a:latin typeface="Segoe UI"/>
              </a:defRPr>
            </a:pPr>
            <a:r>
              <a:t>Express Backend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57335" y="5120640"/>
            <a:ext cx="1645920" cy="347472"/>
          </a:xfrm>
          <a:prstGeom prst="roundRect">
            <a:avLst/>
          </a:prstGeom>
          <a:solidFill>
            <a:srgbClr val="161D2E"/>
          </a:solidFill>
          <a:ln w="12700">
            <a:solidFill>
              <a:srgbClr val="283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F8FAFC"/>
                </a:solidFill>
                <a:latin typeface="Segoe UI"/>
              </a:defRPr>
            </a:pPr>
            <a:r>
              <a:t>Interactive UI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Trebuchet MS"/>
              </a:defRPr>
            </a:pPr>
            <a:r>
              <a:t>THE REAL-WORLD ISSUE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731520"/>
            <a:ext cx="1036015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400" b="1">
                <a:solidFill>
                  <a:srgbClr val="F8FAFC"/>
                </a:solidFill>
                <a:latin typeface="Trebuchet MS"/>
              </a:defRPr>
            </a:pPr>
            <a:r>
              <a:t>Why Standard GPS Maps Fail 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4937760" cy="4297680"/>
          </a:xfrm>
          <a:prstGeom prst="roundRect">
            <a:avLst/>
          </a:prstGeom>
          <a:solidFill>
            <a:srgbClr val="161D2E"/>
          </a:solidFill>
          <a:ln w="19050">
            <a:solidFill>
              <a:srgbClr val="283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103120"/>
            <a:ext cx="4389120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6366F1"/>
                </a:solidFill>
                <a:latin typeface="Trebuchet MS"/>
              </a:defRPr>
            </a:pPr>
            <a:r>
              <a:t>THE DAILY COMMUTE STRUGGLE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8FAFC"/>
                </a:solidFill>
                <a:latin typeface="Segoe UI"/>
              </a:rPr>
              <a:t>•  Outdated Traffic Info: </a:t>
            </a:r>
            <a:r>
              <a:rPr sz="1200">
                <a:solidFill>
                  <a:srgbClr val="94A3B8"/>
                </a:solidFill>
                <a:latin typeface="Segoe UI"/>
              </a:rPr>
              <a:t>Standard map apps often rely on old, pre-calculated traffic data rather than what is happening on the street right now.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8FAFC"/>
                </a:solidFill>
                <a:latin typeface="Segoe UI"/>
              </a:rPr>
              <a:t>•  The 'Herd' Effect: </a:t>
            </a:r>
            <a:r>
              <a:rPr sz="1200">
                <a:solidFill>
                  <a:srgbClr val="94A3B8"/>
                </a:solidFill>
                <a:latin typeface="Segoe UI"/>
              </a:rPr>
              <a:t>When a jam happens, GPS apps send everyone down the exact same detour, simply creating a new traffic jam there.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8FAFC"/>
                </a:solidFill>
                <a:latin typeface="Segoe UI"/>
              </a:rPr>
              <a:t>•  Wasted Time &amp; Fuel: </a:t>
            </a:r>
            <a:r>
              <a:rPr sz="1200">
                <a:solidFill>
                  <a:srgbClr val="94A3B8"/>
                </a:solidFill>
                <a:latin typeface="Segoe UI"/>
              </a:rPr>
              <a:t>Drivers spend hours stuck in slow-moving queues, wasting gas and increasing carbon footprint unnecessarily.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6792" y="1828800"/>
            <a:ext cx="4937760" cy="4297680"/>
          </a:xfrm>
          <a:prstGeom prst="roundRect">
            <a:avLst/>
          </a:prstGeom>
          <a:solidFill>
            <a:srgbClr val="161D2E"/>
          </a:solidFill>
          <a:ln w="19050">
            <a:solidFill>
              <a:srgbClr val="283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11112" y="2103120"/>
            <a:ext cx="4389120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F43F5E"/>
                </a:solidFill>
                <a:latin typeface="Trebuchet MS"/>
              </a:defRPr>
            </a:pPr>
            <a:r>
              <a:t>CASE STUDY: HYDERABAD CORRIDORS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8FAFC"/>
                </a:solidFill>
                <a:latin typeface="Segoe UI"/>
              </a:rPr>
              <a:t>•  Hyderabad Bottlenecks: </a:t>
            </a:r>
            <a:r>
              <a:rPr sz="1200">
                <a:solidFill>
                  <a:srgbClr val="94A3B8"/>
                </a:solidFill>
                <a:latin typeface="Segoe UI"/>
              </a:rPr>
              <a:t>IT areas like Hitech City, Madhapur, and Gachibowli experience sudden gridlocks that paralyze travel during rush hours.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8FAFC"/>
                </a:solidFill>
                <a:latin typeface="Segoe UI"/>
              </a:rPr>
              <a:t>•  Rigid Road Network: </a:t>
            </a:r>
            <a:r>
              <a:rPr sz="1200">
                <a:solidFill>
                  <a:srgbClr val="94A3B8"/>
                </a:solidFill>
                <a:latin typeface="Segoe UI"/>
              </a:rPr>
              <a:t>Without immediate, automatic route updates, drivers are stuck on main highways without knowing clear side roads are available.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02552" y="4572000"/>
            <a:ext cx="4206240" cy="1188720"/>
          </a:xfrm>
          <a:prstGeom prst="rect">
            <a:avLst/>
          </a:prstGeom>
          <a:solidFill>
            <a:srgbClr val="0E121E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300"/>
              </a:spcAft>
              <a:defRPr sz="1000" b="1">
                <a:solidFill>
                  <a:srgbClr val="F43F5E"/>
                </a:solidFill>
                <a:latin typeface="Trebuchet MS"/>
              </a:defRPr>
            </a:pPr>
            <a:r>
              <a:t>THE CORE PROBLEM:</a:t>
            </a:r>
          </a:p>
          <a:p>
            <a:pPr>
              <a:defRPr sz="1100" i="1">
                <a:solidFill>
                  <a:srgbClr val="2DD4BF"/>
                </a:solidFill>
                <a:latin typeface="Segoe UI"/>
              </a:defRPr>
            </a:pPr>
            <a:r>
              <a:t>"Standard maps are like driving with a paper map—they don't adapt instantly when traffic patterns shift, leaving you stranded."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Trebuchet MS"/>
              </a:defRPr>
            </a:pPr>
            <a: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731520"/>
            <a:ext cx="1036015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400" b="1">
                <a:solidFill>
                  <a:srgbClr val="F8FAFC"/>
                </a:solidFill>
                <a:latin typeface="Trebuchet MS"/>
              </a:defRPr>
            </a:pPr>
            <a:r>
              <a:t>How Traffix Finds the Best Route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3209544" cy="4297680"/>
          </a:xfrm>
          <a:prstGeom prst="roundRect">
            <a:avLst/>
          </a:prstGeom>
          <a:solidFill>
            <a:srgbClr val="161D2E"/>
          </a:solidFill>
          <a:ln w="19050">
            <a:solidFill>
              <a:srgbClr val="283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103120"/>
            <a:ext cx="2660904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2DD4BF"/>
                </a:solidFill>
                <a:latin typeface="Trebuchet MS"/>
              </a:defRPr>
            </a:pPr>
            <a:r>
              <a:t>1. THE DIGITAL MAP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8FAFC"/>
                </a:solidFill>
                <a:latin typeface="Segoe UI"/>
              </a:rPr>
              <a:t>•  Nodes (Intersections): </a:t>
            </a:r>
            <a:r>
              <a:rPr sz="1200">
                <a:solidFill>
                  <a:srgbClr val="94A3B8"/>
                </a:solidFill>
                <a:latin typeface="Segoe UI"/>
              </a:rPr>
              <a:t>Landmarks and intersections are mapped like subway stations on a transit map.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8FAFC"/>
                </a:solidFill>
                <a:latin typeface="Segoe UI"/>
              </a:rPr>
              <a:t>•  Edges (Roads): </a:t>
            </a:r>
            <a:r>
              <a:rPr sz="1200">
                <a:solidFill>
                  <a:srgbClr val="94A3B8"/>
                </a:solidFill>
                <a:latin typeface="Segoe UI"/>
              </a:rPr>
              <a:t>The streets connecting these landmarks represent the routes you can take.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9704" y="1828800"/>
            <a:ext cx="3209544" cy="4297680"/>
          </a:xfrm>
          <a:prstGeom prst="roundRect">
            <a:avLst/>
          </a:prstGeom>
          <a:solidFill>
            <a:srgbClr val="161D2E"/>
          </a:solidFill>
          <a:ln w="19050">
            <a:solidFill>
              <a:srgbClr val="283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64024" y="2103120"/>
            <a:ext cx="2660904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6366F1"/>
                </a:solidFill>
                <a:latin typeface="Trebuchet MS"/>
              </a:defRPr>
            </a:pPr>
            <a:r>
              <a:t>2. LIVE TRAFFIC SCORE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8FAFC"/>
                </a:solidFill>
                <a:latin typeface="Segoe UI"/>
              </a:rPr>
              <a:t>•  Weights (Traffic Scale): </a:t>
            </a:r>
            <a:r>
              <a:rPr sz="1200">
                <a:solidFill>
                  <a:srgbClr val="94A3B8"/>
                </a:solidFill>
                <a:latin typeface="Segoe UI"/>
              </a:rPr>
              <a:t>Each road has a 'congestion score' from 1 (empty road) to 10 (bumper-to-bumper standstill).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8FAFC"/>
                </a:solidFill>
                <a:latin typeface="Segoe UI"/>
              </a:rPr>
              <a:t>•  Live Changes: </a:t>
            </a:r>
            <a:r>
              <a:rPr sz="1200">
                <a:solidFill>
                  <a:srgbClr val="94A3B8"/>
                </a:solidFill>
                <a:latin typeface="Segoe UI"/>
              </a:rPr>
              <a:t>As traffic builds, the scores update instantly to reflect real conditions.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828800"/>
            <a:ext cx="3209544" cy="4297680"/>
          </a:xfrm>
          <a:prstGeom prst="roundRect">
            <a:avLst/>
          </a:prstGeom>
          <a:solidFill>
            <a:srgbClr val="161D2E"/>
          </a:solidFill>
          <a:ln w="19050">
            <a:solidFill>
              <a:srgbClr val="283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9328" y="2103120"/>
            <a:ext cx="2660904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F43F5E"/>
                </a:solidFill>
                <a:latin typeface="Trebuchet MS"/>
              </a:defRPr>
            </a:pPr>
            <a:r>
              <a:t>3. THE ROUTE BRAIN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8FAFC"/>
                </a:solidFill>
                <a:latin typeface="Segoe UI"/>
              </a:rPr>
              <a:t>•  The Route Solver: </a:t>
            </a:r>
            <a:r>
              <a:rPr sz="1200">
                <a:solidFill>
                  <a:srgbClr val="94A3B8"/>
                </a:solidFill>
                <a:latin typeface="Segoe UI"/>
              </a:rPr>
              <a:t>An intelligent algorithm calculates the total traffic score for all possible paths.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8FAFC"/>
                </a:solidFill>
                <a:latin typeface="Segoe UI"/>
              </a:rPr>
              <a:t>•  Smart Detour: </a:t>
            </a:r>
            <a:r>
              <a:rPr sz="1200">
                <a:solidFill>
                  <a:srgbClr val="94A3B8"/>
                </a:solidFill>
                <a:latin typeface="Segoe UI"/>
              </a:rPr>
              <a:t>It automatically guides you along the path with the lowest overall score, avoiding bottlenecks.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Trebuchet MS"/>
              </a:defRPr>
            </a:pPr>
            <a:r>
              <a:t>REAL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731520"/>
            <a:ext cx="1036015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400" b="1">
                <a:solidFill>
                  <a:srgbClr val="F8FAFC"/>
                </a:solidFill>
                <a:latin typeface="Trebuchet MS"/>
              </a:defRPr>
            </a:pPr>
            <a:r>
              <a:t>Proof: Clearer Roads, Faster Commutes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4937760" cy="4297680"/>
          </a:xfrm>
          <a:prstGeom prst="roundRect">
            <a:avLst/>
          </a:prstGeom>
          <a:solidFill>
            <a:srgbClr val="161D2E"/>
          </a:solidFill>
          <a:ln w="19050">
            <a:solidFill>
              <a:srgbClr val="283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103120"/>
            <a:ext cx="4389120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10B981"/>
                </a:solidFill>
                <a:latin typeface="Trebuchet MS"/>
              </a:defRPr>
            </a:pPr>
            <a:r>
              <a:t>KEY SYSTEM ACHIEVEMENTS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8FAFC"/>
                </a:solidFill>
                <a:latin typeface="Segoe UI"/>
              </a:rPr>
              <a:t>•  Instant Rerouting: </a:t>
            </a:r>
            <a:r>
              <a:rPr sz="1200">
                <a:solidFill>
                  <a:srgbClr val="94A3B8"/>
                </a:solidFill>
                <a:latin typeface="Segoe UI"/>
              </a:rPr>
              <a:t>When a crash or bottleneck occurs, the backend system recalculates a new, clear path in under 4 milliseconds.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8FAFC"/>
                </a:solidFill>
                <a:latin typeface="Segoe UI"/>
              </a:rPr>
              <a:t>•  Real-World Mapping: </a:t>
            </a:r>
            <a:r>
              <a:rPr sz="1200">
                <a:solidFill>
                  <a:srgbClr val="94A3B8"/>
                </a:solidFill>
                <a:latin typeface="Segoe UI"/>
              </a:rPr>
              <a:t>Instead of drawing straight lines, the app connects to live city streets using actual driving data.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8FAFC"/>
                </a:solidFill>
                <a:latin typeface="Segoe UI"/>
              </a:rPr>
              <a:t>•  100% Jam Avoidance: </a:t>
            </a:r>
            <a:r>
              <a:rPr sz="1200">
                <a:solidFill>
                  <a:srgbClr val="94A3B8"/>
                </a:solidFill>
                <a:latin typeface="Segoe UI"/>
              </a:rPr>
              <a:t>Testing proved the system successfully detects heavy traffic and navigates vehicles around it every single 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6792" y="1828800"/>
            <a:ext cx="4937760" cy="4297680"/>
          </a:xfrm>
          <a:prstGeom prst="roundRect">
            <a:avLst/>
          </a:prstGeom>
          <a:solidFill>
            <a:srgbClr val="161D2E"/>
          </a:solidFill>
          <a:ln w="19050">
            <a:solidFill>
              <a:srgbClr val="283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11112" y="210312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DD4BF"/>
                </a:solidFill>
                <a:latin typeface="Trebuchet MS"/>
              </a:defRPr>
            </a:pPr>
            <a:r>
              <a:t>SIMPLE SUCCESS NUMBERS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02552" y="2834640"/>
            <a:ext cx="2011680" cy="1188720"/>
          </a:xfrm>
          <a:prstGeom prst="roundRect">
            <a:avLst/>
          </a:prstGeom>
          <a:solidFill>
            <a:srgbClr val="0E121E"/>
          </a:solidFill>
          <a:ln w="12700">
            <a:solidFill>
              <a:srgbClr val="283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02552" y="2999232"/>
            <a:ext cx="20116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800" b="1">
                <a:solidFill>
                  <a:srgbClr val="2DD4BF"/>
                </a:solidFill>
                <a:latin typeface="Trebuchet MS"/>
              </a:defRPr>
            </a:pPr>
            <a:r>
              <a:t>3.2 ms</a:t>
            </a:r>
          </a:p>
          <a:p>
            <a:pPr algn="ctr">
              <a:spcBef>
                <a:spcPts val="400"/>
              </a:spcBef>
              <a:defRPr sz="900" b="1">
                <a:solidFill>
                  <a:srgbClr val="94A3B8"/>
                </a:solidFill>
                <a:latin typeface="Segoe UI"/>
              </a:defRPr>
            </a:pPr>
            <a:r>
              <a:t>ROUTE SOLVE SPEED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97112" y="2834640"/>
            <a:ext cx="2011680" cy="1188720"/>
          </a:xfrm>
          <a:prstGeom prst="roundRect">
            <a:avLst/>
          </a:prstGeom>
          <a:solidFill>
            <a:srgbClr val="0E121E"/>
          </a:solidFill>
          <a:ln w="12700">
            <a:solidFill>
              <a:srgbClr val="283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97112" y="2999232"/>
            <a:ext cx="20116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800" b="1">
                <a:solidFill>
                  <a:srgbClr val="6366F1"/>
                </a:solidFill>
                <a:latin typeface="Trebuchet MS"/>
              </a:defRPr>
            </a:pPr>
            <a:r>
              <a:t>28%</a:t>
            </a:r>
          </a:p>
          <a:p>
            <a:pPr algn="ctr">
              <a:spcBef>
                <a:spcPts val="400"/>
              </a:spcBef>
              <a:defRPr sz="900" b="1">
                <a:solidFill>
                  <a:srgbClr val="94A3B8"/>
                </a:solidFill>
                <a:latin typeface="Segoe UI"/>
              </a:defRPr>
            </a:pPr>
            <a:r>
              <a:t>SHORTER COMMUTE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02552" y="4389120"/>
            <a:ext cx="2011680" cy="1188720"/>
          </a:xfrm>
          <a:prstGeom prst="roundRect">
            <a:avLst/>
          </a:prstGeom>
          <a:solidFill>
            <a:srgbClr val="0E121E"/>
          </a:solidFill>
          <a:ln w="12700">
            <a:solidFill>
              <a:srgbClr val="283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02552" y="4553712"/>
            <a:ext cx="20116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800" b="1">
                <a:solidFill>
                  <a:srgbClr val="F43F5E"/>
                </a:solidFill>
                <a:latin typeface="Trebuchet MS"/>
              </a:defRPr>
            </a:pPr>
            <a:r>
              <a:t>100%</a:t>
            </a:r>
          </a:p>
          <a:p>
            <a:pPr algn="ctr">
              <a:spcBef>
                <a:spcPts val="400"/>
              </a:spcBef>
              <a:defRPr sz="900" b="1">
                <a:solidFill>
                  <a:srgbClr val="94A3B8"/>
                </a:solidFill>
                <a:latin typeface="Segoe UI"/>
              </a:defRPr>
            </a:pPr>
            <a:r>
              <a:t>ACCURATE DETOURS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97112" y="4389120"/>
            <a:ext cx="2011680" cy="1188720"/>
          </a:xfrm>
          <a:prstGeom prst="roundRect">
            <a:avLst/>
          </a:prstGeom>
          <a:solidFill>
            <a:srgbClr val="0E121E"/>
          </a:solidFill>
          <a:ln w="12700">
            <a:solidFill>
              <a:srgbClr val="283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97112" y="4553712"/>
            <a:ext cx="20116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  <a:latin typeface="Trebuchet MS"/>
              </a:defRPr>
            </a:pPr>
            <a:r>
              <a:t>0 ms</a:t>
            </a:r>
          </a:p>
          <a:p>
            <a:pPr algn="ctr">
              <a:spcBef>
                <a:spcPts val="400"/>
              </a:spcBef>
              <a:defRPr sz="900" b="1">
                <a:solidFill>
                  <a:srgbClr val="94A3B8"/>
                </a:solidFill>
                <a:latin typeface="Segoe UI"/>
              </a:defRPr>
            </a:pPr>
            <a:r>
              <a:t>NO MAP LOADING DELAY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Trebuchet MS"/>
              </a:defRPr>
            </a:pPr>
            <a:r>
              <a:t>SUMMARY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731520"/>
            <a:ext cx="1036015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400" b="1">
                <a:solidFill>
                  <a:srgbClr val="F8FAFC"/>
                </a:solidFill>
                <a:latin typeface="Trebuchet MS"/>
              </a:defRPr>
            </a:pPr>
            <a:r>
              <a:t>A Smarter Future for City Driving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4937760" cy="4297680"/>
          </a:xfrm>
          <a:prstGeom prst="roundRect">
            <a:avLst/>
          </a:prstGeom>
          <a:solidFill>
            <a:srgbClr val="161D2E"/>
          </a:solidFill>
          <a:ln w="19050">
            <a:solidFill>
              <a:srgbClr val="283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103120"/>
            <a:ext cx="4389120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10B981"/>
                </a:solidFill>
                <a:latin typeface="Trebuchet MS"/>
              </a:defRPr>
            </a:pPr>
            <a:r>
              <a:t>WHAT WE ACCOMPLISHED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8FAFC"/>
                </a:solidFill>
                <a:latin typeface="Segoe UI"/>
              </a:rPr>
              <a:t>•  Smart Maps Work: </a:t>
            </a:r>
            <a:r>
              <a:rPr sz="1200">
                <a:solidFill>
                  <a:srgbClr val="94A3B8"/>
                </a:solidFill>
                <a:latin typeface="Segoe UI"/>
              </a:rPr>
              <a:t>By combining a fast computing brain with a visual map, we proved cities can bypass traffic jams instantly.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8FAFC"/>
                </a:solidFill>
                <a:latin typeface="Segoe UI"/>
              </a:rPr>
              <a:t>•  Ready to Scale: </a:t>
            </a:r>
            <a:r>
              <a:rPr sz="1200">
                <a:solidFill>
                  <a:srgbClr val="94A3B8"/>
                </a:solidFill>
                <a:latin typeface="Segoe UI"/>
              </a:rPr>
              <a:t>The system uses standard code, meaning it can easily grow from a few streets to entire metropolitan areas.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8FAFC"/>
                </a:solidFill>
                <a:latin typeface="Segoe UI"/>
              </a:rPr>
              <a:t>•  Eco-Friendly Focus: </a:t>
            </a:r>
            <a:r>
              <a:rPr sz="1200">
                <a:solidFill>
                  <a:srgbClr val="94A3B8"/>
                </a:solidFill>
                <a:latin typeface="Segoe UI"/>
              </a:rPr>
              <a:t>Less time idling in traffic directly translates to less wasted gasoline and lower city-wide pollution.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6792" y="1828800"/>
            <a:ext cx="4937760" cy="4297680"/>
          </a:xfrm>
          <a:prstGeom prst="roundRect">
            <a:avLst/>
          </a:prstGeom>
          <a:solidFill>
            <a:srgbClr val="161D2E"/>
          </a:solidFill>
          <a:ln w="19050">
            <a:solidFill>
              <a:srgbClr val="283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11112" y="2103120"/>
            <a:ext cx="4389120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2DD4BF"/>
                </a:solidFill>
                <a:latin typeface="Trebuchet MS"/>
              </a:defRPr>
            </a:pPr>
            <a:r>
              <a:t>WHERE WE ARE GOING NEXT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8FAFC"/>
                </a:solidFill>
                <a:latin typeface="Segoe UI"/>
              </a:rPr>
              <a:t>•  AI Traffic Prediction: </a:t>
            </a:r>
            <a:r>
              <a:rPr sz="1200">
                <a:solidFill>
                  <a:srgbClr val="94A3B8"/>
                </a:solidFill>
                <a:latin typeface="Segoe UI"/>
              </a:rPr>
              <a:t>Using machine learning to predict where traffic jams will form 30 minutes before they actually happen.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8FAFC"/>
                </a:solidFill>
                <a:latin typeface="Segoe UI"/>
              </a:rPr>
              <a:t>•  Live Traffic Cameras: </a:t>
            </a:r>
            <a:r>
              <a:rPr sz="1200">
                <a:solidFill>
                  <a:srgbClr val="94A3B8"/>
                </a:solidFill>
                <a:latin typeface="Segoe UI"/>
              </a:rPr>
              <a:t>Connecting directly to city traffic cameras to automatically detect jams without human reports.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8FAFC"/>
                </a:solidFill>
                <a:latin typeface="Segoe UI"/>
              </a:rPr>
              <a:t>•  Balanced Routing: </a:t>
            </a:r>
            <a:r>
              <a:rPr sz="1200">
                <a:solidFill>
                  <a:srgbClr val="94A3B8"/>
                </a:solidFill>
                <a:latin typeface="Segoe UI"/>
              </a:rPr>
              <a:t>Distributing cars across different detours so navigation apps don't accidentally create new blockages.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